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1ed2d90d84486d" /><Relationship Type="http://schemas.openxmlformats.org/officeDocument/2006/relationships/extended-properties" Target="/docProps/app.xml" Id="Rb6742b0fdf924006" /><Relationship Type="http://schemas.openxmlformats.org/officeDocument/2006/relationships/officeDocument" Target="/ppt/presentation.xml" Id="R687cae74d489448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81a463eb544ee5"/>
  </p:sldMasterIdLst>
  <p:notesMasterIdLst>
    <p:notesMasterId xmlns:r="http://schemas.openxmlformats.org/officeDocument/2006/relationships" r:id="R020389fa634c4f71"/>
  </p:notesMasterIdLst>
  <p:sldIdLst>
    <p:sldId xmlns:r="http://schemas.openxmlformats.org/officeDocument/2006/relationships" id="256" r:id="Rfe40fc82ddc94826"/>
    <p:sldId xmlns:r="http://schemas.openxmlformats.org/officeDocument/2006/relationships" id="257" r:id="R842affff6fc74c23"/>
    <p:sldId xmlns:r="http://schemas.openxmlformats.org/officeDocument/2006/relationships" id="258" r:id="R52648329b9cc4b29"/>
    <p:sldId xmlns:r="http://schemas.openxmlformats.org/officeDocument/2006/relationships" id="259" r:id="R032a23594589462a"/>
    <p:sldId xmlns:r="http://schemas.openxmlformats.org/officeDocument/2006/relationships" id="260" r:id="R683e5e5f9c8f4e39"/>
    <p:sldId xmlns:r="http://schemas.openxmlformats.org/officeDocument/2006/relationships" id="261" r:id="R224cca068e754bc8"/>
    <p:sldId xmlns:r="http://schemas.openxmlformats.org/officeDocument/2006/relationships" id="262" r:id="R95b288dce4334416"/>
    <p:sldId xmlns:r="http://schemas.openxmlformats.org/officeDocument/2006/relationships" id="263" r:id="Rbc68fd90b1e04dde"/>
    <p:sldId xmlns:r="http://schemas.openxmlformats.org/officeDocument/2006/relationships" id="264" r:id="R20d44e85ec9f4d1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40eea7871db49d2" /><Relationship Type="http://schemas.openxmlformats.org/officeDocument/2006/relationships/slideMaster" Target="/ppt/slideMasters/slideMaster1.xml" Id="R6281a463eb544ee5" /><Relationship Type="http://schemas.openxmlformats.org/officeDocument/2006/relationships/notesMaster" Target="/ppt/notesMasters/notesMaster1.xml" Id="R020389fa634c4f71" /><Relationship Type="http://schemas.openxmlformats.org/officeDocument/2006/relationships/presProps" Target="/ppt/presProps.xml" Id="R15249b1aa3df478f" /><Relationship Type="http://schemas.openxmlformats.org/officeDocument/2006/relationships/tableStyles" Target="/ppt/tableStyles.xml" Id="R319b7fd9ce5c4665" /><Relationship Type="http://schemas.openxmlformats.org/officeDocument/2006/relationships/slide" Target="/ppt/slides/slide1.xml" Id="Rfe40fc82ddc94826" /><Relationship Type="http://schemas.openxmlformats.org/officeDocument/2006/relationships/slide" Target="/ppt/slides/slide2.xml" Id="R842affff6fc74c23" /><Relationship Type="http://schemas.openxmlformats.org/officeDocument/2006/relationships/slide" Target="/ppt/slides/slide3.xml" Id="R52648329b9cc4b29" /><Relationship Type="http://schemas.openxmlformats.org/officeDocument/2006/relationships/slide" Target="/ppt/slides/slide4.xml" Id="R032a23594589462a" /><Relationship Type="http://schemas.openxmlformats.org/officeDocument/2006/relationships/slide" Target="/ppt/slides/slide5.xml" Id="R683e5e5f9c8f4e39" /><Relationship Type="http://schemas.openxmlformats.org/officeDocument/2006/relationships/slide" Target="/ppt/slides/slide6.xml" Id="R224cca068e754bc8" /><Relationship Type="http://schemas.openxmlformats.org/officeDocument/2006/relationships/slide" Target="/ppt/slides/slide7.xml" Id="R95b288dce4334416" /><Relationship Type="http://schemas.openxmlformats.org/officeDocument/2006/relationships/slide" Target="/ppt/slides/slide8.xml" Id="Rbc68fd90b1e04dde" /><Relationship Type="http://schemas.openxmlformats.org/officeDocument/2006/relationships/slide" Target="/ppt/slides/slide9.xml" Id="R20d44e85ec9f4d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8c53452e3941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23a14e4bc74ff6" /><Relationship Type="http://schemas.openxmlformats.org/officeDocument/2006/relationships/notesMaster" Target="/ppt/notesMasters/notesMaster1.xml" Id="R39af2f9d9b894e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2c107bfc99456d" /><Relationship Type="http://schemas.openxmlformats.org/officeDocument/2006/relationships/notesMaster" Target="/ppt/notesMasters/notesMaster1.xml" Id="Rdeb6f11cda0449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4b448b72694da5" /><Relationship Type="http://schemas.openxmlformats.org/officeDocument/2006/relationships/notesMaster" Target="/ppt/notesMasters/notesMaster1.xml" Id="R1b68cdfe39c94a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7eb26e1b8d40bd" /><Relationship Type="http://schemas.openxmlformats.org/officeDocument/2006/relationships/notesMaster" Target="/ppt/notesMasters/notesMaster1.xml" Id="R89963b51b86348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6ca740c6a0485b" /><Relationship Type="http://schemas.openxmlformats.org/officeDocument/2006/relationships/notesMaster" Target="/ppt/notesMasters/notesMaster1.xml" Id="R2e8ef9c24d59462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97e58a5bd741d3" /><Relationship Type="http://schemas.openxmlformats.org/officeDocument/2006/relationships/notesMaster" Target="/ppt/notesMasters/notesMaster1.xml" Id="R76871c4f459a42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7efc07b32714f54" /><Relationship Type="http://schemas.openxmlformats.org/officeDocument/2006/relationships/notesMaster" Target="/ppt/notesMasters/notesMaster1.xml" Id="R21cfee8fa8a7431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553621470a4aee" /><Relationship Type="http://schemas.openxmlformats.org/officeDocument/2006/relationships/notesMaster" Target="/ppt/notesMasters/notesMaster1.xml" Id="R1c2695dc5faa41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1eaee6f63b4f22" /><Relationship Type="http://schemas.openxmlformats.org/officeDocument/2006/relationships/notesMaster" Target="/ppt/notesMasters/notesMaster1.xml" Id="R6cb9492c180d45d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Presentamos el diseño de una ventana deslizante para estimar la frecuencia de una IP y detectar ataques. Comparamos Count-Min Sketch y CountSketch con una referencia exacta.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captura corresponde al punto samplepoint-F de MAWI y contiene 123 383 971 paquetes IPv4. Inyectamos ambos ataques con semilla 42, comienzan en t=300 s y duran 30 s. Las semillas 42, 7 y 1234 se usan para las funciones hash; no confundirlas con la semilla de generación de ataques. La traza se cita aquí y no se incluye en el repositorio. Una IP es heavy hitter si supera el 1 % del total de paquetes de la ventana.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Cada subventana guarda su propio sketch y el agregado A representa los últimos 60 segundos. Como el sketch es lineal, avanzar la ventana sólo requiere restar la ranura que expira y añadir la que entra. La operación toca 2dw contadores y no depende del número de paquetes de la ventana. El anillo escalar de tamaños permite comparar N_j contra exact_hh; coincidieron las 84 ventanas.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Mostramos el error relativo medio de las claves de frecuencia alta por origen y destino. Los valores corresponden a la semilla hash 42. En estos grupos CS tuvo menor error. CMS sólo sobreestima por las colisiones; CS puede quedar por encima o por debajo. La memoria contabiliza seis sketches de subventana más el agregado, con cinco filas y cuatro bytes por contador.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víctima es detectada a los 310 s, diez segundos después del inicio. La referencia exacta y ambos sketches coinciden en todos los anchos y no tienen falsos positivos. Con w=256 el MRE es 7,56 % para CMS y 3,89 % para 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 referencia detecta el scan a los 320 s, veinte segundos después del inicio. Con semilla hash 42 y w=256, ambos sketches lo declaran en 310 s, antes de la referencia, y vuelven a producir un falso positivo en 380 s. Desde w=1024 las decisiones coinciden. El MRE en w=1024 es 0,543 % para CMS y 0,127 % para 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 cambio entre ventanas muestra cuándo el tráfico del ataque entra y sale de la ventana móvil. Para w=16384, ambos estimadores quedan a dos paquetes o menos de los extremos exactos. CS usa su estimador con signo; para CMS se usa la mediana como variante experimental y sin la garantía habitual del CMS.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 w=256, para el incremento la mediana CMS se equivoca por 78 paquetes y CS por 133. Para el decremento, CMS se equivoca por 417 y CS por 155. No hay un método que domine en ambos extremos; con anchos mayores, los errores disminuyen.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resumen, la estructura de anillo hace posible actualizar una ventana móvil con costo acotado. Aumentar el ancho reduce el error. El DDoS se detecta a tiempo incluso con el ancho menor, mientras que el scan con w=256 muestra falsos positivos. Para ambos ataques, desde w=1024 las decisiones coinciden con la referencia exacta. En el escenario de menor tasa, 3000 paquetes por segundo, las detecciones también coinciden, con latencia de 30 segundos. Gracias, quedamos atentos a sus preguntas.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cf186df4ab47f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28e29cdc08485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fe5f95d96c4b5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38d26dd76c4a0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5c968096104ac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51c6281cc243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C2642E-B382-4C75-B134-51D490149E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49B4870-1C90-4EBD-A610-28137CB0589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302685E-0FE3-46E5-9428-CBB304A8F4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A6054F-0B72-4E96-A6B2-8940187A98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2F90584-97CA-4FF8-8287-87807C8017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C0D90EE-7C02-4E3B-981E-13627AB065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918A3D7-FD9B-4CBD-AE26-CD6E22EB15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786CE76-11E9-409B-824A-D659EDBC5E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30EDF49-BDF8-4DAB-97E2-0B6403AC13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19411D6-2CBC-4ED2-A77F-06714A19DD7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9220390a5c495f" /><Relationship Type="http://schemas.openxmlformats.org/officeDocument/2006/relationships/slideLayout" Target="/ppt/slideLayouts/slideLayout1.xml" Id="R8a25f129bc4346c5" /><Relationship Type="http://schemas.openxmlformats.org/officeDocument/2006/relationships/slideLayout" Target="/ppt/slideLayouts/slideLayout2.xml" Id="R8395b828cc974c5b" /><Relationship Type="http://schemas.openxmlformats.org/officeDocument/2006/relationships/slideLayout" Target="/ppt/slideLayouts/slideLayout3.xml" Id="R4f217d19ba2841a5" /><Relationship Type="http://schemas.openxmlformats.org/officeDocument/2006/relationships/slideLayout" Target="/ppt/slideLayouts/slideLayout4.xml" Id="Rf78148cc3ee34c02" /><Relationship Type="http://schemas.openxmlformats.org/officeDocument/2006/relationships/slideLayout" Target="/ppt/slideLayouts/slideLayout5.xml" Id="R368be04831734e2e" /><Relationship Type="http://schemas.openxmlformats.org/officeDocument/2006/relationships/slideLayout" Target="/ppt/slideLayouts/slideLayout6.xml" Id="R72d0f287075f4c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25f129bc4346c5"/>
    <p:sldLayoutId xmlns:r="http://schemas.openxmlformats.org/officeDocument/2006/relationships" id="2147483650" r:id="R8395b828cc974c5b"/>
    <p:sldLayoutId xmlns:r="http://schemas.openxmlformats.org/officeDocument/2006/relationships" id="2147483651" r:id="R4f217d19ba2841a5"/>
    <p:sldLayoutId xmlns:r="http://schemas.openxmlformats.org/officeDocument/2006/relationships" id="2147483652" r:id="Rf78148cc3ee34c02"/>
    <p:sldLayoutId xmlns:r="http://schemas.openxmlformats.org/officeDocument/2006/relationships" id="2147483653" r:id="R368be04831734e2e"/>
    <p:sldLayoutId xmlns:r="http://schemas.openxmlformats.org/officeDocument/2006/relationships" id="2147483654" r:id="R72d0f287075f4c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8095edf5984802" /><Relationship Type="http://schemas.openxmlformats.org/officeDocument/2006/relationships/notesSlide" Target="/ppt/notesSlides/notesSlide1.xml" Id="R5e221479a7754e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30971e5fe64eb5" /><Relationship Type="http://schemas.openxmlformats.org/officeDocument/2006/relationships/notesSlide" Target="/ppt/notesSlides/notesSlide2.xml" Id="R1d1c6f6684de43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455802ee1b429a" /><Relationship Type="http://schemas.openxmlformats.org/officeDocument/2006/relationships/notesSlide" Target="/ppt/notesSlides/notesSlide3.xml" Id="R7c4f7978b48a4f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b4b0e134254159" /><Relationship Type="http://schemas.openxmlformats.org/officeDocument/2006/relationships/notesSlide" Target="/ppt/notesSlides/notesSlide4.xml" Id="R7da2345d4b1f49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69d5ef6cf147a4" /><Relationship Type="http://schemas.openxmlformats.org/officeDocument/2006/relationships/image" Target="/ppt/media/image.png" Id="Rdacbfb3cc95b4a49" /><Relationship Type="http://schemas.openxmlformats.org/officeDocument/2006/relationships/notesSlide" Target="/ppt/notesSlides/notesSlide5.xml" Id="R9fdbaf0e47234a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9c90d7d2cd4515" /><Relationship Type="http://schemas.openxmlformats.org/officeDocument/2006/relationships/image" Target="/ppt/media/image2.png" Id="Rbe37ce7a24da42bc" /><Relationship Type="http://schemas.openxmlformats.org/officeDocument/2006/relationships/notesSlide" Target="/ppt/notesSlides/notesSlide6.xml" Id="R91835affca4841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a0bf7ea33247eb" /><Relationship Type="http://schemas.openxmlformats.org/officeDocument/2006/relationships/image" Target="/ppt/media/image3.png" Id="R79608eed0da74835" /><Relationship Type="http://schemas.openxmlformats.org/officeDocument/2006/relationships/notesSlide" Target="/ppt/notesSlides/notesSlide7.xml" Id="R0217ad70da22480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42641181f54d33" /><Relationship Type="http://schemas.openxmlformats.org/officeDocument/2006/relationships/image" Target="/ppt/media/image4.png" Id="R814d50bf3a3b42d3" /><Relationship Type="http://schemas.openxmlformats.org/officeDocument/2006/relationships/notesSlide" Target="/ppt/notesSlides/notesSlide8.xml" Id="Rd5d9271798184d7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8448112b614ad1" /><Relationship Type="http://schemas.openxmlformats.org/officeDocument/2006/relationships/notesSlide" Target="/ppt/notesSlides/notesSlide9.xml" Id="R62c5b07ac1b940c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30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4D3D9A-FD83-4251-8356-B0227E808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A9A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1EB9AF-5DEF-4A49-AC80-ADE14E14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477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A8DDE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A8DD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A8DDE0"/>
                </a:solidFill>
                <a:latin typeface="Helvetica Neue"/>
                <a:ea typeface="Helvetica Neue"/>
                <a:cs typeface="Helvetica Neue"/>
              </a:rPr>
              <a:t>TÓPICOS EN MANEJO DE GRANDES VOLÚMENES DE DATOS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357669-EDEF-4A7F-962F-E9081D97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43100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CMS + CountSketch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BF0B7D-DDD9-4BE3-AB2F-A6BC0224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400" b="0">
                <a:solidFill>
                  <a:srgbClr val="E4EDF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E4EDF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E4EDF0"/>
                </a:solidFill>
                <a:latin typeface="Helvetica Neue"/>
                <a:ea typeface="Helvetica Neue"/>
                <a:cs typeface="Helvetica Neue"/>
              </a:rPr>
              <a:t>Ventanas deslizantes para detectar ataques en tráfico de red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E8ED00-DAE8-4050-9861-09019BA9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A9A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916A2-F8C2-4803-BF8A-6A22B001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00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500" b="0">
                <a:solidFill>
                  <a:srgbClr val="D2E0E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D2E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D2E0E5"/>
                </a:solidFill>
                <a:latin typeface="Helvetica Neue"/>
                <a:ea typeface="Helvetica Neue"/>
                <a:cs typeface="Helvetica Neue"/>
              </a:rPr>
              <a:t>Tarea 1 ·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B7BC43-0F86-40C9-B420-DEACB761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876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D2E0E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D2E0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D2E0E5"/>
                </a:solidFill>
                <a:latin typeface="Helvetica Neue"/>
                <a:ea typeface="Helvetica Neue"/>
                <a:cs typeface="Helvetica Neue"/>
              </a:rPr>
              <a:t>MAWI · DDoS · scan · estimación de frecuencias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49EC7A-9F50-4BAE-A52A-9C4CCB9B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484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0">
                <a:solidFill>
                  <a:srgbClr val="A8DDE0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A8DD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8DDE0"/>
                </a:solidFill>
                <a:latin typeface="Helvetica Neue"/>
                <a:ea typeface="Helvetica Neue"/>
                <a:cs typeface="Helvetica Neue"/>
              </a:rPr>
              <a:t>Presentación del trabajo</a:t>
            </a:r>
          </a:p>
        </p:txBody>
      </p:sp>
    </p:spTree>
    <p:extLst>
      <p:ext uri="{BB962C8B-B14F-4D97-AF65-F5344CB8AC3E}">
        <p14:creationId xmlns:p14="http://schemas.microsoft.com/office/powerpoint/2010/main" val="21328623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A1322D-9FB1-4A4B-9481-124800EE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EXPERIMENTO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54457F-527F-4A35-A1D6-BC155D796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Traza MAWI y ataques sintéticos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103255-BBCA-4B20-BD03-937FCAC4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477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467117-8CC0-4166-A7B8-87FB6578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Tarea 1 · TMGVD                                        2 / 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A44ADC-4AA6-4711-B272-207DCB45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95425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TRAZA BASE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F6FC8-1E11-4955-A65C-6BD1BE3B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47625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MAWI samplepoint-F</a:t>
            </a:r>
          </a:p>
          <a:p xmlns:a="http://schemas.openxmlformats.org/drawingml/2006/main">
            <a:pPr algn="l">
              <a:defRPr sz="18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3 dic 2018 · 14:00</a:t>
            </a:r>
          </a:p>
          <a:p xmlns:a="http://schemas.openxmlformats.org/drawingml/2006/main">
            <a:pPr algn="l">
              <a:defRPr sz="18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123 383 971 paquetes IPv4</a:t>
            </a:r>
          </a:p>
          <a:p xmlns:a="http://schemas.openxmlformats.org/drawingml/2006/main">
            <a:pPr algn="l">
              <a:defRPr sz="18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Duración: 899,96 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48AD1-7EED-469E-833F-26A33477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495425"/>
            <a:ext cx="19050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F29E7D-74EC-4227-B91D-8CA07C7D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ATAQUES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F480E-81D6-46F5-8636-257D7E35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38325"/>
            <a:ext cx="4953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DDoS</a:t>
            </a:r>
          </a:p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10 000 paquetes/s · 4 000 fuentes</a:t>
            </a:r>
          </a:p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Víctima: 163.210.30.13 (clave dst)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EE7AAE-60F4-4E7B-A8AD-DE4930DFA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4953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Scan</a:t>
            </a:r>
          </a:p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8 000 paquetes/s · 60 000 destinos</a:t>
            </a:r>
          </a:p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Atacante: 198.18.0.7 (clave src)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17D981-8C7D-4FEF-8A29-D6919417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08770F-1CFC-4B38-B60E-BA7DEA20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W = 60 s  ·  paso = 10 s  ·  d = 5  ·  φ = 0,01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0223E6-86B3-47F8-A0D8-F90E6FD6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Ataques desde 300 s durante 30 s · semilla de inyección: 42 · w = 256, 1 024, 4 096 y 16 384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756D7E-7B09-4851-BC74-81786EC8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8645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MAWI: https://mawi.wide.ad.jp/mawi/samplepoint-F/2018/201812031400.pcap.gz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A00BE3-279F-45DC-A710-06744926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Repo: https://github.com/BisenteWiederhold/Tarea1TopMGVD</a:t>
            </a:r>
          </a:p>
        </p:txBody>
      </p:sp>
    </p:spTree>
    <p:extLst>
      <p:ext uri="{BB962C8B-B14F-4D97-AF65-F5344CB8AC3E}">
        <p14:creationId xmlns:p14="http://schemas.microsoft.com/office/powerpoint/2010/main" val="132164093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8FF492-5CF5-4F84-BEE7-1D9D7D3B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IMPLEMENTACIÓN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11A35-5598-4D52-A414-5B54C366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La linealidad mantiene la ventana deslizante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372269-91D9-4CBA-B00D-5F0EBD4A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477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4578D5-42AD-4227-81B7-B74489B7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Tarea 1 · TMGVD                                        3 / 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CFE24D-7D31-438F-9598-260D1604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Seis subventanas de 10 s y un sketch agregado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2D9D8A-120B-4390-A47B-7E500AC5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7EA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8FC750-044B-4152-94F0-2B4E1BEB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717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S₁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9FEB9E-D38E-4454-8102-F01B47D62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10 s · q1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87D5BC-E71C-4A4B-BCED-1981E45A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0764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65396-1430-42F8-A758-CF47F4BF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717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S₂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D804C-F540-4F5B-B168-9CCA3C6A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14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10 s · q2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51AE6D-F3D8-43E8-84E5-7329C189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764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43D2EE-940E-47BA-AFEC-6C005E27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717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S₃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8A2D33-9849-46D9-BE50-1BE058A2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514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10 s · q3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CDBD5E-D85E-4A81-8E9B-90BB5EA8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0764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4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4F54E8-3F96-4668-B495-44FEB750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1717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S₄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3A834F-7238-4344-BBC0-A5E4BDEA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514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10 s · q4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B5C1C1-C1B7-439C-967F-6A489CB00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764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C2ED7F-3C4C-4B8F-8584-A8239F3C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1717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S₅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3C7914-01D8-434D-8034-1F777316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14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10 s · q5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98DEA5-5C9F-4DB1-A3EC-DBE7A1F3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076450"/>
            <a:ext cx="1428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3F4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DB6122-2D39-498D-A31A-5DAE7037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1717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S₆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C05A20-7BBB-435D-9A5D-7E2250BD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514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10 s · q6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7A73EB-9B39-4D7A-9D3A-E67EB987E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22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22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A = S₁ + S₂ + S₃ + S₄ + S₅ + S₆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DDBCA5-DE61-4818-9B36-07E74477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433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DD7CCE-A4B6-46A5-ADDA-1B6FCFAA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4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Cuando entra una subventana nueva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00AB6E-2B14-4B1E-835B-FDA9342D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43425"/>
            <a:ext cx="1047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72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se resta la más antigua, se limpia su ranura y se agrega la nueva.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B75D8F-E486-4DF1-A91B-B619350FC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619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6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Costo por rotación: 2 · d · w contadores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0105A0-1620-454F-8BD4-C18E1FF5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864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Nⱼ se valida contra exact_hh: 84 de 84 ventanas coinciden.</a:t>
            </a:r>
          </a:p>
        </p:txBody>
      </p:sp>
    </p:spTree>
    <p:extLst>
      <p:ext uri="{BB962C8B-B14F-4D97-AF65-F5344CB8AC3E}">
        <p14:creationId xmlns:p14="http://schemas.microsoft.com/office/powerpoint/2010/main" val="12987194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C6FE6E-5661-43F6-9FD9-C98DBDC9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RESULTADOS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86AF2-540C-4020-9B5A-7D5574423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El error baja al aumentar el ancho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FF34BB-A83E-462E-B317-2C0C1122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477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770A3-A101-4A30-8F84-8C448788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Tarea 1 · TMGVD                                        4 / 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00F509-0A22-4588-A9FC-B5B97FBF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954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Error relativo medio para las claves de frecuencia alta, sin ataque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B624B3-F551-4E1A-809F-BD53AB07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9775"/>
            <a:ext cx="2381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04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DD24DD-1524-4660-A8D6-C9E688A4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Clave / sketch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95CCD4-7EC5-4EB8-BC6B-AACC794D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00977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65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99CDF-0159-4A3C-868C-7D8EF745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574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 = 256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3DC79E-5A7B-4BE5-A1B5-442EA1A7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0977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65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41DDBB-A559-4939-B506-A22ECDA6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574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 = 1 024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D1DE38-32FD-4381-9D94-DF9B8680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0977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65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9BBB97-CA21-4F48-B6C1-BF336D02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574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 = 4 096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98C58-933F-43C6-82DC-F8E97835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09775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65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2EF50D-76C8-411F-80BF-A680B03D2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574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 = 16 384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6C8786-41B5-487F-ACF1-B08656CB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E48FE3-10C4-4EF7-8D7E-A9B4A3E9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050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dst · CMS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629E91-2703-469F-8EF3-8A28C36F7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050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3,22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50299F-91D8-41DA-AB79-A45D81D7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5050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0,702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8FF782-13A6-4812-AF74-D0B1E3EC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050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0,157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6AC9A7-8FCC-4C8B-81F5-3B9575DB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050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0,0351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66731E-3F19-4A0E-A0E2-9890BD61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F0F7F7-1F8E-497C-8937-0C487531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622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6EC7EB-B7DD-47A9-8A3B-050BB6F7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194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dst · 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A967B7-3B77-4E97-B4F5-4529E80A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194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0,846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AD2728-8BFF-4206-89DD-231A23E8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194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0,0615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E890E7-11C4-4F61-B1F2-EEF4D931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194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0,0134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7CF564-3638-4C2A-B727-81CB0278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194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0,00282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026479-FA87-4B13-8335-C7CC0036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671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5256BB-D250-44E4-A1F9-8D7CD25B6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766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6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718138-4452-47C8-97FF-FF91C2C8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3377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src · CMS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B0A1BC-31DD-4BFD-A503-384B6EEA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337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36,9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C490FA-9F75-4B5F-9926-CFB362E8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337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4,97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96453A6-1C56-4302-839A-D51B11826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337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0,809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F8FB7C-41A5-4F2A-9331-CF72B47B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337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0,164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7A7928-A26E-4224-ADAF-10E683AC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8145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7C74C7-FEAE-441B-9D21-734CDC02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909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179A22-48C9-47CE-BB23-3F39FB20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src · CS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393E10-4ADA-4940-8E8C-B82A3BB4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481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11,5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0C01C05-54CA-405A-BD47-826363FB0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0481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0,481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0CCEC4C-E8B4-42E4-9E6F-50CF369E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481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0,214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FE5069E-F95A-47CE-809C-3DDBCB94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0,0447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49C969-4459-45BC-AAD0-92564150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958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A61184-F8EF-4332-811C-99A723B3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4345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CS tuvo menor error en estas claves de frecuencia alta.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998324-3F34-4F58-80E8-F0D1E5D9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62550"/>
            <a:ext cx="1057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42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CMS suma las colisiones y sobreestima. CS usa signos aleatorios, por lo que el error puede ir en ambos sentidos.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CE2DA17-EF88-4EA8-B5F9-AECC3DA9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578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Memoria total: 35 KiB (w=256) a 2 240 KiB (w=16 384), para 7 sketches.</a:t>
            </a:r>
          </a:p>
        </p:txBody>
      </p:sp>
    </p:spTree>
    <p:extLst>
      <p:ext uri="{BB962C8B-B14F-4D97-AF65-F5344CB8AC3E}">
        <p14:creationId xmlns:p14="http://schemas.microsoft.com/office/powerpoint/2010/main" val="10909738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97C76C-B568-4740-80B1-88E2BCDFB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FRECUENCIA EN VENTANA · SEMILLA HASH 42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B2FAD9-F4E2-4122-9EB9-51D83831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DDoS: ambos sketches igualan la detección exacta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219DF-A746-4AA2-A80E-7E56EA3D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477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E8E22-EC6B-488C-86D7-75FFB860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Tarea 1 · TMGVD                                        5 / 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9A1F4-1692-425A-BDC4-5FCFA0175A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cbfb3cc95b4a49"/>
          <a:stretch xmlns:a="http://schemas.openxmlformats.org/drawingml/2006/main"/>
        </p:blipFill>
        <p:spPr>
          <a:xfrm xmlns:a="http://schemas.openxmlformats.org/drawingml/2006/main">
            <a:off x="3494314" y="1438275"/>
            <a:ext cx="5203371" cy="4552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CD8EDC-6225-4AFA-BAB8-D6BFB8F2E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57900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Latencia: 10 s · cero falsos positivos para todos los anchos</a:t>
            </a:r>
          </a:p>
        </p:txBody>
      </p:sp>
    </p:spTree>
    <p:extLst>
      <p:ext uri="{BB962C8B-B14F-4D97-AF65-F5344CB8AC3E}">
        <p14:creationId xmlns:p14="http://schemas.microsoft.com/office/powerpoint/2010/main" val="14576232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859617-C085-476A-9DA8-3FE407BB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FRECUENCIA EN VENTANA · SEMILLA HASH 42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CE1447-F938-44F3-BFCC-061E2F7C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Scan: con w=256 aparecen falsos positivos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D293F3-0322-4682-9D37-4A7B8FDE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477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3795A-67E5-48A0-BB6A-DE1A9EE17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Tarea 1 · TMGVD                                        6 / 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A22426-9A07-464C-B8D8-9153C3AAE0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37ce7a24da42bc"/>
          <a:stretch xmlns:a="http://schemas.openxmlformats.org/drawingml/2006/main"/>
        </p:blipFill>
        <p:spPr>
          <a:xfrm xmlns:a="http://schemas.openxmlformats.org/drawingml/2006/main">
            <a:off x="3494314" y="1438275"/>
            <a:ext cx="5203371" cy="4552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9B1648-CD8D-4674-89CB-41660209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57900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w=256: detecciones adelantadas en 310 y 380 s · desde w=1 024: latencia 20 s y cero FP</a:t>
            </a:r>
          </a:p>
        </p:txBody>
      </p:sp>
    </p:spTree>
    <p:extLst>
      <p:ext uri="{BB962C8B-B14F-4D97-AF65-F5344CB8AC3E}">
        <p14:creationId xmlns:p14="http://schemas.microsoft.com/office/powerpoint/2010/main" val="17216780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8E2A7E-E460-4358-8E7F-787AC11A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CAMBIO ENTRE VENTANAS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7A8C26-041C-46A8-AB28-8530159E6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DDoS: Δf señala entrada y salida del ataque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829BA-884C-4CA9-913D-46C745B0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477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6158A-75CD-49E3-818E-3303B9EC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Tarea 1 · TMGVD                                        7 / 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310F4C-0048-4462-81D2-03590F776A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608eed0da74835"/>
          <a:stretch xmlns:a="http://schemas.openxmlformats.org/drawingml/2006/main"/>
        </p:blipFill>
        <p:spPr>
          <a:xfrm xmlns:a="http://schemas.openxmlformats.org/drawingml/2006/main">
            <a:off x="3953435" y="1438275"/>
            <a:ext cx="4285129" cy="4552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712AA-2FE9-49D4-B598-6FFEBE22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57900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Exacto: +100 008 paquetes en 310 s · −100 007 en 370 s</a:t>
            </a:r>
          </a:p>
        </p:txBody>
      </p:sp>
    </p:spTree>
    <p:extLst>
      <p:ext uri="{BB962C8B-B14F-4D97-AF65-F5344CB8AC3E}">
        <p14:creationId xmlns:p14="http://schemas.microsoft.com/office/powerpoint/2010/main" val="13680508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FD28A2-1C62-47FF-ABE5-30D49681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CAMBIO ENTRE VENTANAS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6808C9-2777-4601-B622-66D13FA3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Scan: el estimador de Δf depende del extremo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32E9C8-71F4-4299-B903-D9730C89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477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E23E1-35BB-4E7D-9EF3-A1825379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Tarea 1 · TMGVD                                        8 / 9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AFB8E8-2EEC-4EF3-871D-A140DDFB99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d50bf3a3b42d3"/>
          <a:stretch xmlns:a="http://schemas.openxmlformats.org/drawingml/2006/main"/>
        </p:blipFill>
        <p:spPr>
          <a:xfrm xmlns:a="http://schemas.openxmlformats.org/drawingml/2006/main">
            <a:off x="3953435" y="1438275"/>
            <a:ext cx="4285129" cy="4552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5B941D-5DB4-4C54-A436-ABE8D7B39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57900"/>
            <a:ext cx="1085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ctr">
              <a:def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Exacto: +80 000 paquetes en 310 s · −80 000 en 370 s</a:t>
            </a:r>
          </a:p>
        </p:txBody>
      </p:sp>
    </p:spTree>
    <p:extLst>
      <p:ext uri="{BB962C8B-B14F-4D97-AF65-F5344CB8AC3E}">
        <p14:creationId xmlns:p14="http://schemas.microsoft.com/office/powerpoint/2010/main" val="2421203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2CEF3F-EAA3-479A-8CC3-7BBAD68C7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1C9E9-DEA1-4155-9D8C-98EE6B969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Conclusiones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E67E01-B1E0-4F6E-9795-C43C7BB1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47775"/>
            <a:ext cx="1085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ADB21D-D025-46CA-95BA-017C2138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505575"/>
            <a:ext cx="108585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Tarea 1 · TMGVD                                        9 / 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C1DEC7-E8BD-4ECA-A183-A02CCDF7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8115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7FAE09-4A29-4103-A2AD-A5C976A96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71625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La linealidad mantiene la ventana con 2·d·w contadores por rotación.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505D03-5CF9-4C73-9257-B79CAA3D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2E0E25-3A67-416A-9A9D-C7CED4C2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Al aumentar w, baja el error. En los datos evaluados, CS fue más preciso en general.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E09BF9-134D-401D-BA64-5DE57FAB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9565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E0DDE-F7D3-4E04-902A-3C0D9C04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El DDoS se detecta como con el conteo exacto. Para el scan, w=256 adelanta decisiones.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17A19-9EAE-4339-A8E0-3F44B753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57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78A9A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91BEE7-8E86-4218-AA9A-A6F7C50E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43375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223441"/>
                </a:solidFill>
                <a:latin typeface="Helvetica Neue"/>
                <a:ea typeface="Helvetica Neue"/>
                <a:cs typeface="Helvetica Neue"/>
              </a:rPr>
              <a:t>Δf permite observar tanto la entrada del ataque como su salida de la ventana.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AFEFAB-4164-4743-9D10-B5A0E94A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29225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D9D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6B7BB6-C5C3-4C49-924C-38475E98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2025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23047"/>
                </a:solidFill>
                <a:latin typeface="Helvetica Neue"/>
                <a:ea typeface="Helvetica Neue"/>
                <a:cs typeface="Helvetica Neue"/>
              </a:rPr>
              <a:t>¿Preguntas?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E05B0-C2FA-472A-98D0-9260C807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6265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647582"/>
                </a:solidFill>
                <a:latin typeface="Helvetica Neue"/>
                <a:ea typeface="Helvetica Neue"/>
                <a:cs typeface="Helvetica Neue"/>
              </a:rPr>
              <a:t>Con w ≥ 1 024, las decisiones coinciden con exact_hh en los dos ataques principales.</a:t>
            </a:r>
          </a:p>
        </p:txBody>
      </p:sp>
    </p:spTree>
    <p:extLst>
      <p:ext uri="{BB962C8B-B14F-4D97-AF65-F5344CB8AC3E}">
        <p14:creationId xmlns:p14="http://schemas.microsoft.com/office/powerpoint/2010/main" val="10518975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2026-10-02T00:50:10.1150000Z</dcterms:created>
  <dcterms:modified xsi:type="dcterms:W3CDTF">2026-10-02T00:50:10.1160000Z</dcterms:modified>
</coreProperties>
</file>