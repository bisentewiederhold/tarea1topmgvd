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f346addf844cb2" /><Relationship Type="http://schemas.openxmlformats.org/officeDocument/2006/relationships/extended-properties" Target="/docProps/app.xml" Id="Ra50a8551d74940ff" /><Relationship Type="http://schemas.openxmlformats.org/officeDocument/2006/relationships/officeDocument" Target="/ppt/presentation.xml" Id="R115d55afbaad4f9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f011869fec40a9"/>
  </p:sldMasterIdLst>
  <p:notesMasterIdLst>
    <p:notesMasterId xmlns:r="http://schemas.openxmlformats.org/officeDocument/2006/relationships" r:id="R371379ba724e4f1d"/>
  </p:notesMasterIdLst>
  <p:sldIdLst>
    <p:sldId xmlns:r="http://schemas.openxmlformats.org/officeDocument/2006/relationships" id="256" r:id="Rbc8f6ab5d018463e"/>
    <p:sldId xmlns:r="http://schemas.openxmlformats.org/officeDocument/2006/relationships" id="257" r:id="R8e90b0f81d8148f1"/>
    <p:sldId xmlns:r="http://schemas.openxmlformats.org/officeDocument/2006/relationships" id="258" r:id="R82e9844d65c04f36"/>
    <p:sldId xmlns:r="http://schemas.openxmlformats.org/officeDocument/2006/relationships" id="259" r:id="R8b3b306aa3394057"/>
    <p:sldId xmlns:r="http://schemas.openxmlformats.org/officeDocument/2006/relationships" id="260" r:id="R3cf7e371f16843ac"/>
    <p:sldId xmlns:r="http://schemas.openxmlformats.org/officeDocument/2006/relationships" id="261" r:id="R8fdbd33abf234809"/>
    <p:sldId xmlns:r="http://schemas.openxmlformats.org/officeDocument/2006/relationships" id="262" r:id="R36034d5e792f45e7"/>
    <p:sldId xmlns:r="http://schemas.openxmlformats.org/officeDocument/2006/relationships" id="263" r:id="R13579b22bab34ffa"/>
    <p:sldId xmlns:r="http://schemas.openxmlformats.org/officeDocument/2006/relationships" id="264" r:id="R607841f2877a447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6223fc43904cd4" /><Relationship Type="http://schemas.openxmlformats.org/officeDocument/2006/relationships/slideMaster" Target="/ppt/slideMasters/slideMaster1.xml" Id="R77f011869fec40a9" /><Relationship Type="http://schemas.openxmlformats.org/officeDocument/2006/relationships/notesMaster" Target="/ppt/notesMasters/notesMaster1.xml" Id="R371379ba724e4f1d" /><Relationship Type="http://schemas.openxmlformats.org/officeDocument/2006/relationships/presProps" Target="/ppt/presProps.xml" Id="R2f95b71de9f34e25" /><Relationship Type="http://schemas.openxmlformats.org/officeDocument/2006/relationships/tableStyles" Target="/ppt/tableStyles.xml" Id="R07e81deef2c2439f" /><Relationship Type="http://schemas.openxmlformats.org/officeDocument/2006/relationships/slide" Target="/ppt/slides/slide1.xml" Id="Rbc8f6ab5d018463e" /><Relationship Type="http://schemas.openxmlformats.org/officeDocument/2006/relationships/slide" Target="/ppt/slides/slide2.xml" Id="R8e90b0f81d8148f1" /><Relationship Type="http://schemas.openxmlformats.org/officeDocument/2006/relationships/slide" Target="/ppt/slides/slide3.xml" Id="R82e9844d65c04f36" /><Relationship Type="http://schemas.openxmlformats.org/officeDocument/2006/relationships/slide" Target="/ppt/slides/slide4.xml" Id="R8b3b306aa3394057" /><Relationship Type="http://schemas.openxmlformats.org/officeDocument/2006/relationships/slide" Target="/ppt/slides/slide5.xml" Id="R3cf7e371f16843ac" /><Relationship Type="http://schemas.openxmlformats.org/officeDocument/2006/relationships/slide" Target="/ppt/slides/slide6.xml" Id="R8fdbd33abf234809" /><Relationship Type="http://schemas.openxmlformats.org/officeDocument/2006/relationships/slide" Target="/ppt/slides/slide7.xml" Id="R36034d5e792f45e7" /><Relationship Type="http://schemas.openxmlformats.org/officeDocument/2006/relationships/slide" Target="/ppt/slides/slide8.xml" Id="R13579b22bab34ffa" /><Relationship Type="http://schemas.openxmlformats.org/officeDocument/2006/relationships/slide" Target="/ppt/slides/slide9.xml" Id="R607841f2877a44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dcc511a65dc4f3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e834a123cc4985" /><Relationship Type="http://schemas.openxmlformats.org/officeDocument/2006/relationships/notesMaster" Target="/ppt/notesMasters/notesMaster1.xml" Id="R9073857c4c804c0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328b458d97548e7" /><Relationship Type="http://schemas.openxmlformats.org/officeDocument/2006/relationships/notesMaster" Target="/ppt/notesMasters/notesMaster1.xml" Id="Rc3dfe6060667417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84291b766e74269" /><Relationship Type="http://schemas.openxmlformats.org/officeDocument/2006/relationships/notesMaster" Target="/ppt/notesMasters/notesMaster1.xml" Id="Rd78628e4ab64482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5b1d812bb1747e9" /><Relationship Type="http://schemas.openxmlformats.org/officeDocument/2006/relationships/notesMaster" Target="/ppt/notesMasters/notesMaster1.xml" Id="R8b913663f69c402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a56768d9d2b4b18" /><Relationship Type="http://schemas.openxmlformats.org/officeDocument/2006/relationships/notesMaster" Target="/ppt/notesMasters/notesMaster1.xml" Id="R005fdf5aa7944f9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731caff30d94565" /><Relationship Type="http://schemas.openxmlformats.org/officeDocument/2006/relationships/notesMaster" Target="/ppt/notesMasters/notesMaster1.xml" Id="R57af939d3d73499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6dd0664cbd74b81" /><Relationship Type="http://schemas.openxmlformats.org/officeDocument/2006/relationships/notesMaster" Target="/ppt/notesMasters/notesMaster1.xml" Id="Rbdb9682a69434a7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3a3b1e96c25430b" /><Relationship Type="http://schemas.openxmlformats.org/officeDocument/2006/relationships/notesMaster" Target="/ppt/notesMasters/notesMaster1.xml" Id="R7759896186474e0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5d2d5cef8d546b6" /><Relationship Type="http://schemas.openxmlformats.org/officeDocument/2006/relationships/notesMaster" Target="/ppt/notesMasters/notesMaster1.xml" Id="R94d6776b1c1e493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Abrir explicando la pregunta: cómo mantener una estimación de frecuencia sobre los últimos 60 segundos y detectar una anomalía sin volver a recorrer todo el tráfico. Presentar al equipo.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traza se obtuvo del archivo oficial MAWI. La conversión local con pcap2bin produjo el total IPv4 esperado. Para DDoS contamos destinos porque el tráfico converge en la víctima; para scan contamos origen porque un atacante consulta muchos destinos.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Describir los intervalos abiertos por la izquierda y cerrados por la derecha. Los timestamps enteros evitan imprecisión en bordes. El agregado A permite retirar lo expirado y añadir lo entrante con un costo proporcional a d por w, que no depende de cuántos paquetes contiene la ventana. La comparación automática de N con exact_hh pasó en 84 ventanas.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que el error relativo se vuelve enorme en claves poco frecuentes; aquí se muestra el grupo alto para comparar anchos sin que las divisiones por frecuencias pequeñas dominen la lectura. La memoria reportada considera las seis subventanas y el agregado: 7·d·w·4 bytes.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ataque eleva la frecuencia de la víctima a más del 1% de la ventana. La referencia y ambos sketches detectan en la evaluación de 310 s, es decir, 10 s después del inicio. Al terminar, la frecuencia cae cuando los paquetes salen de la ventana. Fuente: codigo_entregado/resultados/fig_ddos.png y resumen.csv.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 el scan la frecuencia exacta supera el umbral a los 320 s. Con w=256, CMS y CS cruzan el umbral antes en 310 s y vuelven a dar falsos positivos en 380 s. Desde w=1024, la primera detección coincide con exact_hh a 320 s. El conteo se hace por IP de origen.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cambio distingue el inicio del ataque del momento en que su tráfico comienza a salir de la ventana. Con w=16384, los estimadores quedan a 0–2 paquetes del valor exacto en estos extremos. CMS-mediana es experimental para diferencias firmadas y no conserva las garantías CMS estándar.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 w=256, CMS-mediana aproxima mejor el incremento inicial (error 78 frente a 133 de CS), pero CS aproxima mejor el decremento (155 frente a 417). A anchos grandes ambos se acercan al valor exacto; no hay un ganador universal para todos los casos y anchos.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Cerrar enfatizando el balance entre memoria y precisión y que la detección depende de la clave, el umbral y la resolución temporal de 10 s. Invitar preguntas. El informe contiene resultados de baja intensidad además de los valores principales mostrados en este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29088bbbf6426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c58f734fd548f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092426a5ae40d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b45572fbc94b0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aeda8bf34b4c5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97fe8780d34d3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E2E81EA-05DD-4C49-8FDD-F763FD8273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3B55857-9BF1-4AEF-BF64-1F62CAD0C27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27D5E5D-1541-410C-A9CB-9B887A00A3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E821D75-767E-4724-A5FC-507206433D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0085B1F-32C2-44B6-B027-A98C0901E0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423415D-E219-4DF3-8B7A-C8DF3A0433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6458294-CE35-4A55-8D51-716E7A7B72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89539A8-4992-438F-834F-8B0C13CBB2C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9FE0B6D-CED5-4B0F-A40D-0CBC47BD03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81AE3F2-D19A-4D89-B364-4D44AC5D0C1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e94a74245664170" /><Relationship Type="http://schemas.openxmlformats.org/officeDocument/2006/relationships/slideLayout" Target="/ppt/slideLayouts/slideLayout1.xml" Id="R168c533e1d9a4684" /><Relationship Type="http://schemas.openxmlformats.org/officeDocument/2006/relationships/slideLayout" Target="/ppt/slideLayouts/slideLayout2.xml" Id="Re843421f3e164f2e" /><Relationship Type="http://schemas.openxmlformats.org/officeDocument/2006/relationships/slideLayout" Target="/ppt/slideLayouts/slideLayout3.xml" Id="Rd9ee97153907416b" /><Relationship Type="http://schemas.openxmlformats.org/officeDocument/2006/relationships/slideLayout" Target="/ppt/slideLayouts/slideLayout4.xml" Id="Rc59470689f4e4713" /><Relationship Type="http://schemas.openxmlformats.org/officeDocument/2006/relationships/slideLayout" Target="/ppt/slideLayouts/slideLayout5.xml" Id="R98ceae2858b34a30" /><Relationship Type="http://schemas.openxmlformats.org/officeDocument/2006/relationships/slideLayout" Target="/ppt/slideLayouts/slideLayout6.xml" Id="R660a1f9776a74b2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68c533e1d9a4684"/>
    <p:sldLayoutId xmlns:r="http://schemas.openxmlformats.org/officeDocument/2006/relationships" id="2147483650" r:id="Re843421f3e164f2e"/>
    <p:sldLayoutId xmlns:r="http://schemas.openxmlformats.org/officeDocument/2006/relationships" id="2147483651" r:id="Rd9ee97153907416b"/>
    <p:sldLayoutId xmlns:r="http://schemas.openxmlformats.org/officeDocument/2006/relationships" id="2147483652" r:id="Rc59470689f4e4713"/>
    <p:sldLayoutId xmlns:r="http://schemas.openxmlformats.org/officeDocument/2006/relationships" id="2147483653" r:id="R98ceae2858b34a30"/>
    <p:sldLayoutId xmlns:r="http://schemas.openxmlformats.org/officeDocument/2006/relationships" id="2147483654" r:id="R660a1f9776a74b2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0d7945bb5545c8" /><Relationship Type="http://schemas.openxmlformats.org/officeDocument/2006/relationships/notesSlide" Target="/ppt/notesSlides/notesSlide1.xml" Id="R9ac3f861c14b4ba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ea588d3b1842ca" /><Relationship Type="http://schemas.openxmlformats.org/officeDocument/2006/relationships/notesSlide" Target="/ppt/notesSlides/notesSlide2.xml" Id="R33534d5f044b424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bb0cafc7684ebd" /><Relationship Type="http://schemas.openxmlformats.org/officeDocument/2006/relationships/notesSlide" Target="/ppt/notesSlides/notesSlide3.xml" Id="Rb95541e396694da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7174facefc41e9" /><Relationship Type="http://schemas.openxmlformats.org/officeDocument/2006/relationships/notesSlide" Target="/ppt/notesSlides/notesSlide4.xml" Id="R1d3e637aea1a424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a2ee0ccc214807" /><Relationship Type="http://schemas.openxmlformats.org/officeDocument/2006/relationships/image" Target="/ppt/media/image.png" Id="Re6de6382e16a4f8c" /><Relationship Type="http://schemas.openxmlformats.org/officeDocument/2006/relationships/notesSlide" Target="/ppt/notesSlides/notesSlide5.xml" Id="Rebcbc7425c52442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506a0c77104b98" /><Relationship Type="http://schemas.openxmlformats.org/officeDocument/2006/relationships/image" Target="/ppt/media/image2.png" Id="Rcc8675a3c59d4ccd" /><Relationship Type="http://schemas.openxmlformats.org/officeDocument/2006/relationships/notesSlide" Target="/ppt/notesSlides/notesSlide6.xml" Id="Rb4624bca410543d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0e42498d19421f" /><Relationship Type="http://schemas.openxmlformats.org/officeDocument/2006/relationships/image" Target="/ppt/media/image3.png" Id="R43b80d8ca06843cd" /><Relationship Type="http://schemas.openxmlformats.org/officeDocument/2006/relationships/notesSlide" Target="/ppt/notesSlides/notesSlide7.xml" Id="Rf4db7094988d4f7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5025deac7f44d7" /><Relationship Type="http://schemas.openxmlformats.org/officeDocument/2006/relationships/image" Target="/ppt/media/image4.png" Id="R7900e55a0a60405f" /><Relationship Type="http://schemas.openxmlformats.org/officeDocument/2006/relationships/notesSlide" Target="/ppt/notesSlides/notesSlide8.xml" Id="R43a0f455adb4482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3507dac7024ceb" /><Relationship Type="http://schemas.openxmlformats.org/officeDocument/2006/relationships/notesSlide" Target="/ppt/notesSlides/notesSlide9.xml" Id="R8ec4d36a3bc3489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B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12AABD-9110-4749-8403-EF87F1C3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7C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06C394-956C-4AFD-B020-A773FA253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049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210"/>
          </a:bodyPr>
          <a:lstStyle xmlns:a="http://schemas.openxmlformats.org/drawingml/2006/main">
            <a:defPPr>
              <a:def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CMS + CountSketch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429D2C-DAAC-47E1-8FBA-CAA14C241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52625"/>
            <a:ext cx="9715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2400" b="0">
                <a:solidFill>
                  <a:srgbClr val="D9E7E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D9E7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D9E7E8"/>
                </a:solidFill>
                <a:latin typeface="Helvetica Neue"/>
                <a:ea typeface="Helvetica Neue"/>
                <a:cs typeface="Helvetica Neue"/>
              </a:rPr>
              <a:t>Ventanas deslizantes para detectar ataques en tráfico de red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B31A20-2F7D-4FD5-BE74-7385E336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81375"/>
            <a:ext cx="4381500" cy="2857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9E7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BD2D46-D863-4F5E-966E-A061DBB1A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766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Tópicos en Manejo de Grandes Volúmenes de Datos · Tarea 1 ·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0B5FCE-1E60-407C-9A01-311B171A1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1980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275" b="0">
                <a:solidFill>
                  <a:srgbClr val="C2D4D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C2D4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C2D4D9"/>
                </a:solidFill>
                <a:latin typeface="Helvetica Neue"/>
                <a:ea typeface="Helvetica Neue"/>
                <a:cs typeface="Helvetica Neue"/>
              </a:rPr>
              <a:t>Integrantes: [completar nombres]</a:t>
            </a:r>
          </a:p>
        </p:txBody>
      </p:sp>
    </p:spTree>
    <p:extLst>
      <p:ext uri="{BB962C8B-B14F-4D97-AF65-F5344CB8AC3E}">
        <p14:creationId xmlns:p14="http://schemas.microsoft.com/office/powerpoint/2010/main" val="19506403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8C9A98-E1D8-4F64-9364-23AFF958A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137C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37C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37C8B"/>
                </a:solidFill>
                <a:latin typeface="Helvetica Neue"/>
                <a:ea typeface="Helvetica Neue"/>
                <a:cs typeface="Helvetica Neue"/>
              </a:rPr>
              <a:t>EXPERIMENTO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D2464C-9FDA-490E-B344-5CD80D056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3000" b="1">
                <a:solidFill>
                  <a:srgbClr val="102B3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02B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2B3F"/>
                </a:solidFill>
                <a:latin typeface="Helvetica Neue"/>
                <a:ea typeface="Helvetica Neue"/>
                <a:cs typeface="Helvetica Neue"/>
              </a:rPr>
              <a:t>Trazas y criterio de detección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3F10A2-B194-4506-A14E-79321B951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95400"/>
            <a:ext cx="10858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4BA402-1424-4F64-B90E-08B3DDE1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811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>
            <a:defPPr>
              <a:defRPr sz="2100" b="1">
                <a:solidFill>
                  <a:srgbClr val="102B3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02B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02B3F"/>
                </a:solidFill>
                <a:latin typeface="Helvetica Neue"/>
                <a:ea typeface="Helvetica Neue"/>
                <a:cs typeface="Helvetica Neue"/>
              </a:rPr>
              <a:t>Una base real, dos ataques sintéticos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5FE89C-779D-4C10-B966-05FC72648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33600"/>
            <a:ext cx="495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575" b="0">
                <a:solidFill>
                  <a:srgbClr val="14212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4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4212B"/>
                </a:solidFill>
                <a:latin typeface="Helvetica Neue"/>
                <a:ea typeface="Helvetica Neue"/>
                <a:cs typeface="Helvetica Neue"/>
              </a:rPr>
              <a:t>MAWI samplepoint-F · 03-12-2018 14:00</a:t>
            </a:r>
          </a:p>
          <a:p xmlns:a="http://schemas.openxmlformats.org/drawingml/2006/main">
            <a:pPr>
              <a:defRPr sz="1575" b="0">
                <a:solidFill>
                  <a:srgbClr val="14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4212B"/>
                </a:solidFill>
                <a:latin typeface="Helvetica Neue"/>
                <a:ea typeface="Helvetica Neue"/>
                <a:cs typeface="Helvetica Neue"/>
              </a:rPr>
              <a:t>123 383 971 paquetes IPv4 · 899,96 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87FCD3-5FD4-41F5-AD2E-F5C5E15F3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9090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950" b="1">
                <a:solidFill>
                  <a:srgbClr val="137C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37C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37C8B"/>
                </a:solidFill>
                <a:latin typeface="Helvetica Neue"/>
                <a:ea typeface="Helvetica Neue"/>
                <a:cs typeface="Helvetica Neue"/>
              </a:rPr>
              <a:t>DDoS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F597BF-40B6-4682-8FF4-3775D1E8F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371850"/>
            <a:ext cx="3619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575" b="0">
                <a:solidFill>
                  <a:srgbClr val="14212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4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4212B"/>
                </a:solidFill>
                <a:latin typeface="Helvetica Neue"/>
                <a:ea typeface="Helvetica Neue"/>
                <a:cs typeface="Helvetica Neue"/>
              </a:rPr>
              <a:t>dst = 163.210.30.13</a:t>
            </a:r>
          </a:p>
          <a:p xmlns:a="http://schemas.openxmlformats.org/drawingml/2006/main">
            <a:pPr>
              <a:defRPr sz="1575" b="0">
                <a:solidFill>
                  <a:srgbClr val="14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4212B"/>
                </a:solidFill>
                <a:latin typeface="Helvetica Neue"/>
                <a:ea typeface="Helvetica Neue"/>
                <a:cs typeface="Helvetica Neue"/>
              </a:rPr>
              <a:t>10 000 pps · 4 000 fuentes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D8F37F-876C-434B-AABD-BF31499B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386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950" b="1">
                <a:solidFill>
                  <a:srgbClr val="137C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37C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37C8B"/>
                </a:solidFill>
                <a:latin typeface="Helvetica Neue"/>
                <a:ea typeface="Helvetica Neue"/>
                <a:cs typeface="Helvetica Neue"/>
              </a:rPr>
              <a:t>Scan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06E586-2A36-431A-A9C1-02C5CEE3B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419600"/>
            <a:ext cx="4000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575" b="0">
                <a:solidFill>
                  <a:srgbClr val="14212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4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4212B"/>
                </a:solidFill>
                <a:latin typeface="Helvetica Neue"/>
                <a:ea typeface="Helvetica Neue"/>
                <a:cs typeface="Helvetica Neue"/>
              </a:rPr>
              <a:t>src = 198.18.0.7</a:t>
            </a:r>
          </a:p>
          <a:p xmlns:a="http://schemas.openxmlformats.org/drawingml/2006/main">
            <a:pPr>
              <a:defRPr sz="1575" b="0">
                <a:solidFill>
                  <a:srgbClr val="14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4212B"/>
                </a:solidFill>
                <a:latin typeface="Helvetica Neue"/>
                <a:ea typeface="Helvetica Neue"/>
                <a:cs typeface="Helvetica Neue"/>
              </a:rPr>
              <a:t>8 000 pps · 60 000 destinos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D67060-7A9D-4D3D-8648-97F3BE46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76400"/>
            <a:ext cx="9525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E0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CC0A7D-787A-4636-AA35-3E0C7C447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476"/>
          </a:bodyPr>
          <a:lstStyle xmlns:a="http://schemas.openxmlformats.org/drawingml/2006/main">
            <a:defPPr>
              <a:defRPr sz="2100" b="1">
                <a:solidFill>
                  <a:srgbClr val="102B3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02B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02B3F"/>
                </a:solidFill>
                <a:latin typeface="Helvetica Neue"/>
                <a:ea typeface="Helvetica Neue"/>
                <a:cs typeface="Helvetica Neue"/>
              </a:rPr>
              <a:t>Parámetros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B2FDDE-A8D3-4DD5-A756-F7100361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81250"/>
            <a:ext cx="4381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14212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buNone/>
              <a:defRPr sz="1725" b="0">
                <a:solidFill>
                  <a:srgbClr val="14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4212B"/>
                </a:solidFill>
                <a:latin typeface="Helvetica Neue"/>
                <a:ea typeface="Helvetica Neue"/>
                <a:cs typeface="Helvetica Neue"/>
              </a:rPr>
              <a:t>W = 60 s     paso = 10 s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725" b="0">
                <a:solidFill>
                  <a:srgbClr val="14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4212B"/>
                </a:solidFill>
                <a:latin typeface="Helvetica Neue"/>
                <a:ea typeface="Helvetica Neue"/>
                <a:cs typeface="Helvetica Neue"/>
              </a:rPr>
              <a:t>d = 5     φ = 0,01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725" b="0">
                <a:solidFill>
                  <a:srgbClr val="14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4212B"/>
                </a:solidFill>
                <a:latin typeface="Helvetica Neue"/>
                <a:ea typeface="Helvetica Neue"/>
                <a:cs typeface="Helvetica Neue"/>
              </a:rPr>
              <a:t>w = 256 · 1 024 · 4 096 · 16 384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725" b="0">
                <a:solidFill>
                  <a:srgbClr val="14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4212B"/>
                </a:solidFill>
                <a:latin typeface="Helvetica Neue"/>
                <a:ea typeface="Helvetica Neue"/>
                <a:cs typeface="Helvetica Neue"/>
              </a:rPr>
              <a:t>Inicio = 300 s     duración = 30 s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725" b="0">
                <a:solidFill>
                  <a:srgbClr val="14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4212B"/>
                </a:solidFill>
                <a:latin typeface="Helvetica Neue"/>
                <a:ea typeface="Helvetica Neue"/>
                <a:cs typeface="Helvetica Neue"/>
              </a:rPr>
              <a:t>Semilla de ataques = 42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6BA106-7085-4785-9CD7-24D7FF76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286375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275" b="0">
                <a:solidFill>
                  <a:srgbClr val="5368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875"/>
                </a:solidFill>
                <a:latin typeface="Helvetica Neue"/>
                <a:ea typeface="Helvetica Neue"/>
                <a:cs typeface="Helvetica Neue"/>
              </a:rPr>
              <a:t>Clave del ataque conocida desde el ground truth</a:t>
            </a:r>
          </a:p>
        </p:txBody>
      </p:sp>
    </p:spTree>
    <p:extLst>
      <p:ext uri="{BB962C8B-B14F-4D97-AF65-F5344CB8AC3E}">
        <p14:creationId xmlns:p14="http://schemas.microsoft.com/office/powerpoint/2010/main" val="5029748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FA30E0-7624-4BD5-A5FE-8095F776A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137C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37C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37C8B"/>
                </a:solidFill>
                <a:latin typeface="Helvetica Neue"/>
                <a:ea typeface="Helvetica Neue"/>
                <a:cs typeface="Helvetica Neue"/>
              </a:rPr>
              <a:t>IMPLEMENTACIÓN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351697-262F-4987-8440-808DE8697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3000" b="1">
                <a:solidFill>
                  <a:srgbClr val="102B3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02B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2B3F"/>
                </a:solidFill>
                <a:latin typeface="Helvetica Neue"/>
                <a:ea typeface="Helvetica Neue"/>
                <a:cs typeface="Helvetica Neue"/>
              </a:rPr>
              <a:t>Ventana deslizante por linealidad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FDA0EA-2E8F-4538-A529-4D73A34DB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95400"/>
            <a:ext cx="10858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1F4624-E6C4-4D50-ACB8-ED93021FE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43050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875" b="1">
                <a:solidFill>
                  <a:srgbClr val="102B3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02B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2B3F"/>
                </a:solidFill>
                <a:latin typeface="Helvetica Neue"/>
                <a:ea typeface="Helvetica Neue"/>
                <a:cs typeface="Helvetica Neue"/>
              </a:rPr>
              <a:t>Cada ranura guarda una subventana de 10 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89C2A2-6648-45AF-AE22-8A85C8A77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33625"/>
            <a:ext cx="12858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0"/>
          </a:solidFill>
          <a:ln xmlns:a="http://schemas.openxmlformats.org/drawingml/2006/main" w="9525">
            <a:solidFill>
              <a:srgbClr val="D5E0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DDAE71-D158-404C-A4BC-72068FE84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47925"/>
            <a:ext cx="128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9697"/>
          </a:bodyPr>
          <a:lstStyle xmlns:a="http://schemas.openxmlformats.org/drawingml/2006/main">
            <a:defPPr algn="ctr">
              <a:defRPr sz="1650" b="1">
                <a:solidFill>
                  <a:srgbClr val="102B3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02B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B3F"/>
                </a:solidFill>
                <a:latin typeface="Helvetica Neue"/>
                <a:ea typeface="Helvetica Neue"/>
                <a:cs typeface="Helvetica Neue"/>
              </a:rPr>
              <a:t>S1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D03A15-1F09-4476-86FA-37BE7BF7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43200"/>
            <a:ext cx="1285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>
            <a:defPPr algn="ctr">
              <a:defRPr sz="1125" b="0">
                <a:solidFill>
                  <a:srgbClr val="5368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125" b="0">
                <a:solidFill>
                  <a:srgbClr val="53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875"/>
                </a:solidFill>
                <a:latin typeface="Helvetica Neue"/>
                <a:ea typeface="Helvetica Neue"/>
                <a:cs typeface="Helvetica Neue"/>
              </a:rPr>
              <a:t>q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8A9826-0088-458C-AA2A-BA97EF74F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333625"/>
            <a:ext cx="12858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5"/>
          </a:solidFill>
          <a:ln xmlns:a="http://schemas.openxmlformats.org/drawingml/2006/main" w="9525">
            <a:solidFill>
              <a:srgbClr val="D5E0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532E29-D4B5-4D47-9F35-D011490C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447925"/>
            <a:ext cx="128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9697"/>
          </a:bodyPr>
          <a:lstStyle xmlns:a="http://schemas.openxmlformats.org/drawingml/2006/main">
            <a:defPPr algn="ctr">
              <a:defRPr sz="1650" b="1">
                <a:solidFill>
                  <a:srgbClr val="102B3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02B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B3F"/>
                </a:solidFill>
                <a:latin typeface="Helvetica Neue"/>
                <a:ea typeface="Helvetica Neue"/>
                <a:cs typeface="Helvetica Neue"/>
              </a:rPr>
              <a:t>S2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0FE6A0-ABD3-48C6-8370-B87DDDB5F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743200"/>
            <a:ext cx="1285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>
            <a:defPPr algn="ctr">
              <a:defRPr sz="1125" b="0">
                <a:solidFill>
                  <a:srgbClr val="5368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125" b="0">
                <a:solidFill>
                  <a:srgbClr val="53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875"/>
                </a:solidFill>
                <a:latin typeface="Helvetica Neue"/>
                <a:ea typeface="Helvetica Neue"/>
                <a:cs typeface="Helvetica Neue"/>
              </a:rPr>
              <a:t>q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78290D-3E94-46E5-A375-8651F9DDB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333625"/>
            <a:ext cx="12858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5"/>
          </a:solidFill>
          <a:ln xmlns:a="http://schemas.openxmlformats.org/drawingml/2006/main" w="9525">
            <a:solidFill>
              <a:srgbClr val="D5E0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8B5430-F8D9-4C0F-A1A5-3E926317E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447925"/>
            <a:ext cx="128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9697"/>
          </a:bodyPr>
          <a:lstStyle xmlns:a="http://schemas.openxmlformats.org/drawingml/2006/main">
            <a:defPPr algn="ctr">
              <a:defRPr sz="1650" b="1">
                <a:solidFill>
                  <a:srgbClr val="102B3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02B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B3F"/>
                </a:solidFill>
                <a:latin typeface="Helvetica Neue"/>
                <a:ea typeface="Helvetica Neue"/>
                <a:cs typeface="Helvetica Neue"/>
              </a:rPr>
              <a:t>S3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D2A6A5-8B9F-4A87-8B48-2763EA620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743200"/>
            <a:ext cx="1285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>
            <a:defPPr algn="ctr">
              <a:defRPr sz="1125" b="0">
                <a:solidFill>
                  <a:srgbClr val="5368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125" b="0">
                <a:solidFill>
                  <a:srgbClr val="53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875"/>
                </a:solidFill>
                <a:latin typeface="Helvetica Neue"/>
                <a:ea typeface="Helvetica Neue"/>
                <a:cs typeface="Helvetica Neue"/>
              </a:rPr>
              <a:t>q 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16BF2C-1373-42FD-93ED-18F8DCB53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333625"/>
            <a:ext cx="12858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5"/>
          </a:solidFill>
          <a:ln xmlns:a="http://schemas.openxmlformats.org/drawingml/2006/main" w="9525">
            <a:solidFill>
              <a:srgbClr val="D5E0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6A63F6-DAE0-4C5C-BB86-7412857AF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447925"/>
            <a:ext cx="128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9697"/>
          </a:bodyPr>
          <a:lstStyle xmlns:a="http://schemas.openxmlformats.org/drawingml/2006/main">
            <a:defPPr algn="ctr">
              <a:defRPr sz="1650" b="1">
                <a:solidFill>
                  <a:srgbClr val="102B3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02B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B3F"/>
                </a:solidFill>
                <a:latin typeface="Helvetica Neue"/>
                <a:ea typeface="Helvetica Neue"/>
                <a:cs typeface="Helvetica Neue"/>
              </a:rPr>
              <a:t>S4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1EF372-C6FA-473F-9900-3D00C113D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743200"/>
            <a:ext cx="1285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>
            <a:defPPr algn="ctr">
              <a:defRPr sz="1125" b="0">
                <a:solidFill>
                  <a:srgbClr val="5368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125" b="0">
                <a:solidFill>
                  <a:srgbClr val="53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875"/>
                </a:solidFill>
                <a:latin typeface="Helvetica Neue"/>
                <a:ea typeface="Helvetica Neue"/>
                <a:cs typeface="Helvetica Neue"/>
              </a:rPr>
              <a:t>q 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26C797-2BB0-469E-9F5D-A863D097C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333625"/>
            <a:ext cx="12858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5"/>
          </a:solidFill>
          <a:ln xmlns:a="http://schemas.openxmlformats.org/drawingml/2006/main" w="9525">
            <a:solidFill>
              <a:srgbClr val="D5E0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99A048-7D10-4924-BEDD-0D901CDCB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447925"/>
            <a:ext cx="128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9697"/>
          </a:bodyPr>
          <a:lstStyle xmlns:a="http://schemas.openxmlformats.org/drawingml/2006/main">
            <a:defPPr algn="ctr">
              <a:defRPr sz="1650" b="1">
                <a:solidFill>
                  <a:srgbClr val="102B3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02B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B3F"/>
                </a:solidFill>
                <a:latin typeface="Helvetica Neue"/>
                <a:ea typeface="Helvetica Neue"/>
                <a:cs typeface="Helvetica Neue"/>
              </a:rPr>
              <a:t>S5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CEFF2D-03B0-4C75-B660-3A9BBBE2A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743200"/>
            <a:ext cx="1285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>
            <a:defPPr algn="ctr">
              <a:defRPr sz="1125" b="0">
                <a:solidFill>
                  <a:srgbClr val="5368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125" b="0">
                <a:solidFill>
                  <a:srgbClr val="53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875"/>
                </a:solidFill>
                <a:latin typeface="Helvetica Neue"/>
                <a:ea typeface="Helvetica Neue"/>
                <a:cs typeface="Helvetica Neue"/>
              </a:rPr>
              <a:t>q 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6C5207-E4F6-4CA5-A9D7-1A71CE11A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33625"/>
            <a:ext cx="12858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5"/>
          </a:solidFill>
          <a:ln xmlns:a="http://schemas.openxmlformats.org/drawingml/2006/main" w="9525">
            <a:solidFill>
              <a:srgbClr val="D5E0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0F524A-B565-4039-BFA4-340917883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47925"/>
            <a:ext cx="128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9697"/>
          </a:bodyPr>
          <a:lstStyle xmlns:a="http://schemas.openxmlformats.org/drawingml/2006/main">
            <a:defPPr algn="ctr">
              <a:defRPr sz="1650" b="1">
                <a:solidFill>
                  <a:srgbClr val="102B3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02B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B3F"/>
                </a:solidFill>
                <a:latin typeface="Helvetica Neue"/>
                <a:ea typeface="Helvetica Neue"/>
                <a:cs typeface="Helvetica Neue"/>
              </a:rPr>
              <a:t>S6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98E3AE-F26D-4786-A4B5-8AAA8454A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43200"/>
            <a:ext cx="1285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>
            <a:defPPr algn="ctr">
              <a:defRPr sz="1125" b="0">
                <a:solidFill>
                  <a:srgbClr val="5368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125" b="0">
                <a:solidFill>
                  <a:srgbClr val="53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875"/>
                </a:solidFill>
                <a:latin typeface="Helvetica Neue"/>
                <a:ea typeface="Helvetica Neue"/>
                <a:cs typeface="Helvetica Neue"/>
              </a:rPr>
              <a:t>q 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FC5E24-2112-4E89-9027-EAF9860A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476625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137C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137C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37C8B"/>
                </a:solidFill>
                <a:latin typeface="Helvetica Neue"/>
                <a:ea typeface="Helvetica Neue"/>
                <a:cs typeface="Helvetica Neue"/>
              </a:rPr>
              <a:t>A = S₁ + S₂ + S₃ + S₄ + S₅ + S₆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C0AE91-3AA0-435D-A8F5-A4514B3D3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190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137C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3CCAB5-6654-47F5-BFF8-7C82FA1D9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6672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650" b="0">
                <a:solidFill>
                  <a:srgbClr val="14212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14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4212B"/>
                </a:solidFill>
                <a:latin typeface="Helvetica Neue"/>
                <a:ea typeface="Helvetica Neue"/>
                <a:cs typeface="Helvetica Neue"/>
              </a:rPr>
              <a:t>Al rotar: restar la ranura antigua → limpiarla → acumular la nueva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4C8DF1-4901-40F6-96CA-660B6F4D6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864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02B3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02B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2B3F"/>
                </a:solidFill>
                <a:latin typeface="Helvetica Neue"/>
                <a:ea typeface="Helvetica Neue"/>
                <a:cs typeface="Helvetica Neue"/>
              </a:rPr>
              <a:t>Costo por rotación: 2·d·w contadores · Nⱼ exacto: anillo escalar · 84/84 ventanas verificadas</a:t>
            </a:r>
          </a:p>
        </p:txBody>
      </p:sp>
    </p:spTree>
    <p:extLst>
      <p:ext uri="{BB962C8B-B14F-4D97-AF65-F5344CB8AC3E}">
        <p14:creationId xmlns:p14="http://schemas.microsoft.com/office/powerpoint/2010/main" val="10881746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1FE2FB-5C99-4D6F-A198-E756AA10C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137C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37C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37C8B"/>
                </a:solidFill>
                <a:latin typeface="Helvetica Neue"/>
                <a:ea typeface="Helvetica Neue"/>
                <a:cs typeface="Helvetica Neue"/>
              </a:rPr>
              <a:t>RESULTADOS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FA0D4E-26BC-4699-8FF3-80CFD3012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3000" b="1">
                <a:solidFill>
                  <a:srgbClr val="102B3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02B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2B3F"/>
                </a:solidFill>
                <a:latin typeface="Helvetica Neue"/>
                <a:ea typeface="Helvetica Neue"/>
                <a:cs typeface="Helvetica Neue"/>
              </a:rPr>
              <a:t>Precisión y memoria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8B8D24-7540-47D5-923B-490B9BBE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95400"/>
            <a:ext cx="10858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948A0F-DA07-488C-94E6-97F64A8B6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43050"/>
            <a:ext cx="1019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575" b="0">
                <a:solidFill>
                  <a:srgbClr val="5368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3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36875"/>
                </a:solidFill>
                <a:latin typeface="Helvetica Neue"/>
                <a:ea typeface="Helvetica Neue"/>
                <a:cs typeface="Helvetica Neue"/>
              </a:rPr>
              <a:t>Error relativo medio · clave de frecuencia alta · sin ataque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A4B5DD-4E54-4D50-A459-EE682195C03E}"/>
              </a:ext>
            </a:extLst>
          </p:cNvPr>
          <p:cNvGraphicFramePr/>
          <p:nvPr/>
        </p:nvGraphicFramePr>
        <p:xfrm>
          <a:off xmlns:a="http://schemas.openxmlformats.org/drawingml/2006/main" x="723900" y="2152650"/>
          <a:ext xmlns:a="http://schemas.openxmlformats.org/drawingml/2006/main" cx="10744200" cy="2266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8840"/>
                <a:gridCol w="2148840"/>
                <a:gridCol w="2148840"/>
                <a:gridCol w="2148840"/>
                <a:gridCol w="2148840"/>
              </a:tblGrid>
              <a:tr h="45339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Clave / sketch</a:t>
                      </a:r>
                    </a:p>
                  </a:txBody>
                  <a:tcPr marL="91440" marR="91440" marT="45720" marB="45720">
                    <a:solidFill>
                      <a:srgbClr val="10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w=256</a:t>
                      </a:r>
                    </a:p>
                  </a:txBody>
                  <a:tcPr marL="91440" marR="91440" marT="45720" marB="45720">
                    <a:solidFill>
                      <a:srgbClr val="10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w=1 024</a:t>
                      </a:r>
                    </a:p>
                  </a:txBody>
                  <a:tcPr marL="91440" marR="91440" marT="45720" marB="45720">
                    <a:solidFill>
                      <a:srgbClr val="10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w=4 096</a:t>
                      </a:r>
                    </a:p>
                  </a:txBody>
                  <a:tcPr marL="91440" marR="91440" marT="45720" marB="45720">
                    <a:solidFill>
                      <a:srgbClr val="10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w=16 384</a:t>
                      </a:r>
                    </a:p>
                  </a:txBody>
                  <a:tcPr marL="91440" marR="91440" marT="45720" marB="45720">
                    <a:solidFill>
                      <a:srgbClr val="102B3F"/>
                    </a:solidFill>
                  </a:tcPr>
                </a:tc>
              </a:tr>
              <a:tr h="45339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421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dst · CMS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1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3,22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1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0,702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1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0,157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1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0,0351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5339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421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dst · CS</a:t>
                      </a:r>
                    </a:p>
                  </a:txBody>
                  <a:tcPr marL="91440" marR="91440" marT="45720" marB="45720">
                    <a:solidFill>
                      <a:srgbClr val="F2F6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1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0,846</a:t>
                      </a:r>
                    </a:p>
                  </a:txBody>
                  <a:tcPr marL="91440" marR="91440" marT="45720" marB="45720">
                    <a:solidFill>
                      <a:srgbClr val="F2F6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1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0,0615</a:t>
                      </a:r>
                    </a:p>
                  </a:txBody>
                  <a:tcPr marL="91440" marR="91440" marT="45720" marB="45720">
                    <a:solidFill>
                      <a:srgbClr val="F2F6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1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0,0134</a:t>
                      </a:r>
                    </a:p>
                  </a:txBody>
                  <a:tcPr marL="91440" marR="91440" marT="45720" marB="45720">
                    <a:solidFill>
                      <a:srgbClr val="F2F6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1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0,00282</a:t>
                      </a:r>
                    </a:p>
                  </a:txBody>
                  <a:tcPr marL="91440" marR="91440" marT="45720" marB="45720">
                    <a:solidFill>
                      <a:srgbClr val="F2F6F5"/>
                    </a:solidFill>
                  </a:tcPr>
                </a:tc>
              </a:tr>
              <a:tr h="45339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421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src · CMS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1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36,9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1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4,97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1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0,809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1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0,164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5339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421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src · CS</a:t>
                      </a:r>
                    </a:p>
                  </a:txBody>
                  <a:tcPr marL="91440" marR="91440" marT="45720" marB="45720">
                    <a:solidFill>
                      <a:srgbClr val="F2F6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1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11,5</a:t>
                      </a:r>
                    </a:p>
                  </a:txBody>
                  <a:tcPr marL="91440" marR="91440" marT="45720" marB="45720">
                    <a:solidFill>
                      <a:srgbClr val="F2F6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1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0,481</a:t>
                      </a:r>
                    </a:p>
                  </a:txBody>
                  <a:tcPr marL="91440" marR="91440" marT="45720" marB="45720">
                    <a:solidFill>
                      <a:srgbClr val="F2F6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1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0,214</a:t>
                      </a:r>
                    </a:p>
                  </a:txBody>
                  <a:tcPr marL="91440" marR="91440" marT="45720" marB="45720">
                    <a:solidFill>
                      <a:srgbClr val="F2F6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1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0,0447</a:t>
                      </a:r>
                    </a:p>
                  </a:txBody>
                  <a:tcPr marL="91440" marR="91440" marT="45720" marB="45720">
                    <a:solidFill>
                      <a:srgbClr val="F2F6F5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316658-385A-4811-AAEE-5DEF27D35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2917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725" b="1">
                <a:solidFill>
                  <a:srgbClr val="137C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37C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37C8B"/>
                </a:solidFill>
                <a:latin typeface="Helvetica Neue"/>
                <a:ea typeface="Helvetica Neue"/>
                <a:cs typeface="Helvetica Neue"/>
              </a:rPr>
              <a:t>Contadores por sketch: 35 KiB (w=256) → 2 240 KiB (w=16 384)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80B3D0-E17C-4BBE-86F2-3E7BC001B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72100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575" b="0">
                <a:solidFill>
                  <a:srgbClr val="14212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4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4212B"/>
                </a:solidFill>
                <a:latin typeface="Helvetica Neue"/>
                <a:ea typeface="Helvetica Neue"/>
                <a:cs typeface="Helvetica Neue"/>
              </a:rPr>
              <a:t>CMS sube por colisiones positivas; CS puede errar en ambos sentidos. En estos datos CS tuvo menor error en las claves altas.</a:t>
            </a:r>
          </a:p>
        </p:txBody>
      </p:sp>
    </p:spTree>
    <p:extLst>
      <p:ext uri="{BB962C8B-B14F-4D97-AF65-F5344CB8AC3E}">
        <p14:creationId xmlns:p14="http://schemas.microsoft.com/office/powerpoint/2010/main" val="3333049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45FE0F-59DB-432D-9D1C-9F87ED0D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137C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37C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37C8B"/>
                </a:solidFill>
                <a:latin typeface="Helvetica Neue"/>
                <a:ea typeface="Helvetica Neue"/>
                <a:cs typeface="Helvetica Neue"/>
              </a:rPr>
              <a:t>FRECUENCIA EN VENTANA · SEMILLA HASH 42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C2BC15-A37C-473C-B282-79639E190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3000" b="1">
                <a:solidFill>
                  <a:srgbClr val="102B3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02B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2B3F"/>
                </a:solidFill>
                <a:latin typeface="Helvetica Neue"/>
                <a:ea typeface="Helvetica Neue"/>
                <a:cs typeface="Helvetica Neue"/>
              </a:rPr>
              <a:t>DDoS: CMS y CS igualan la detección exacta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7C9149-E1B1-49CA-8BDC-349FFC81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95400"/>
            <a:ext cx="10858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E1"/>
            </a:solidFill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DCE3D2-86EA-45D6-97AC-38471C8843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de6382e16a4f8c"/>
          <a:stretch xmlns:a="http://schemas.openxmlformats.org/drawingml/2006/main"/>
        </p:blipFill>
        <p:spPr>
          <a:xfrm xmlns:a="http://schemas.openxmlformats.org/drawingml/2006/main">
            <a:off x="3483429" y="1438275"/>
            <a:ext cx="5225143" cy="457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3CA4D1-83F3-4698-9485-ADE6B476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096000"/>
            <a:ext cx="10810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102B3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02B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B3F"/>
                </a:solidFill>
                <a:latin typeface="Helvetica Neue"/>
                <a:ea typeface="Helvetica Neue"/>
                <a:cs typeface="Helvetica Neue"/>
              </a:rPr>
              <a:t>Latencia: 10 s para exacto, CMS y CS en todos los anchos · sin falsos positivos</a:t>
            </a:r>
          </a:p>
        </p:txBody>
      </p:sp>
    </p:spTree>
    <p:extLst>
      <p:ext uri="{BB962C8B-B14F-4D97-AF65-F5344CB8AC3E}">
        <p14:creationId xmlns:p14="http://schemas.microsoft.com/office/powerpoint/2010/main" val="10570242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6D55ED-BDE4-4A79-A282-CBF4E9F4F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137C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37C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37C8B"/>
                </a:solidFill>
                <a:latin typeface="Helvetica Neue"/>
                <a:ea typeface="Helvetica Neue"/>
                <a:cs typeface="Helvetica Neue"/>
              </a:rPr>
              <a:t>FRECUENCIA EN VENTANA · SEMILLA HASH 42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65B031-CD62-43B6-8658-34C362C98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3000" b="1">
                <a:solidFill>
                  <a:srgbClr val="102B3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02B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2B3F"/>
                </a:solidFill>
                <a:latin typeface="Helvetica Neue"/>
                <a:ea typeface="Helvetica Neue"/>
                <a:cs typeface="Helvetica Neue"/>
              </a:rPr>
              <a:t>Scan: el ancho pequeño produce falsos positivos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75D039-47F5-416D-92BC-3A180BC5A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95400"/>
            <a:ext cx="10858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E1"/>
            </a:solidFill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2F0608-C253-4C5F-9D24-1E1985CED5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8675a3c59d4ccd"/>
          <a:stretch xmlns:a="http://schemas.openxmlformats.org/drawingml/2006/main"/>
        </p:blipFill>
        <p:spPr>
          <a:xfrm xmlns:a="http://schemas.openxmlformats.org/drawingml/2006/main">
            <a:off x="3483429" y="1438275"/>
            <a:ext cx="5225143" cy="457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EC8963-21BA-41D5-87EC-5BC46C659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096000"/>
            <a:ext cx="10810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102B3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02B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B3F"/>
                </a:solidFill>
                <a:latin typeface="Helvetica Neue"/>
                <a:ea typeface="Helvetica Neue"/>
                <a:cs typeface="Helvetica Neue"/>
              </a:rPr>
              <a:t>w=256: FP en 310 y 380 s · desde w=1 024: latencia 20 s y 0 FP</a:t>
            </a:r>
          </a:p>
        </p:txBody>
      </p:sp>
    </p:spTree>
    <p:extLst>
      <p:ext uri="{BB962C8B-B14F-4D97-AF65-F5344CB8AC3E}">
        <p14:creationId xmlns:p14="http://schemas.microsoft.com/office/powerpoint/2010/main" val="4743721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07513D-CDB2-4A22-AAD3-08CBD3829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137C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37C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37C8B"/>
                </a:solidFill>
                <a:latin typeface="Helvetica Neue"/>
                <a:ea typeface="Helvetica Neue"/>
                <a:cs typeface="Helvetica Neue"/>
              </a:rPr>
              <a:t>CAMBIO ENTRE VENTANAS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F25E4B-07FB-4CA2-907D-DC1F5797D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3000" b="1">
                <a:solidFill>
                  <a:srgbClr val="102B3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02B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2B3F"/>
                </a:solidFill>
                <a:latin typeface="Helvetica Neue"/>
                <a:ea typeface="Helvetica Neue"/>
                <a:cs typeface="Helvetica Neue"/>
              </a:rPr>
              <a:t>DDoS: Δf marca inicio y salida del ataque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B8DDAB-A953-44AA-AD66-EE7327F03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95400"/>
            <a:ext cx="10858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E1"/>
            </a:solidFill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1D4D4B-46A1-4DF2-BAE1-85A40BBA36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b80d8ca06843cd"/>
          <a:stretch xmlns:a="http://schemas.openxmlformats.org/drawingml/2006/main"/>
        </p:blipFill>
        <p:spPr>
          <a:xfrm xmlns:a="http://schemas.openxmlformats.org/drawingml/2006/main">
            <a:off x="3854824" y="1381125"/>
            <a:ext cx="4482353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68667F-0233-41C7-B856-506A73FEC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11505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>
            <a:defPPr algn="ctr">
              <a:defRPr sz="1500" b="1">
                <a:solidFill>
                  <a:srgbClr val="102B3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02B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2B3F"/>
                </a:solidFill>
                <a:latin typeface="Helvetica Neue"/>
                <a:ea typeface="Helvetica Neue"/>
                <a:cs typeface="Helvetica Neue"/>
              </a:rPr>
              <a:t>Δf exacto: +100 008 en 310 s · −100 007 en 370 s</a:t>
            </a:r>
          </a:p>
        </p:txBody>
      </p:sp>
    </p:spTree>
    <p:extLst>
      <p:ext uri="{BB962C8B-B14F-4D97-AF65-F5344CB8AC3E}">
        <p14:creationId xmlns:p14="http://schemas.microsoft.com/office/powerpoint/2010/main" val="18456454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57946D-369E-4629-93FB-4A12B8A24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137C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37C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37C8B"/>
                </a:solidFill>
                <a:latin typeface="Helvetica Neue"/>
                <a:ea typeface="Helvetica Neue"/>
                <a:cs typeface="Helvetica Neue"/>
              </a:rPr>
              <a:t>CAMBIO ENTRE VENTANAS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ED19D6-23E0-4BEA-96ED-B705C207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3000" b="1">
                <a:solidFill>
                  <a:srgbClr val="102B3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02B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2B3F"/>
                </a:solidFill>
                <a:latin typeface="Helvetica Neue"/>
                <a:ea typeface="Helvetica Neue"/>
                <a:cs typeface="Helvetica Neue"/>
              </a:rPr>
              <a:t>Scan: CMS-mediana no domina en todos los extremos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83E5B6-6F62-4089-92E0-58B969F7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95400"/>
            <a:ext cx="10858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E1"/>
            </a:solidFill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3E3B83-C8A5-402D-8983-D734100053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00e55a0a60405f"/>
          <a:stretch xmlns:a="http://schemas.openxmlformats.org/drawingml/2006/main"/>
        </p:blipFill>
        <p:spPr>
          <a:xfrm xmlns:a="http://schemas.openxmlformats.org/drawingml/2006/main">
            <a:off x="3854824" y="1381125"/>
            <a:ext cx="4482353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70C90C-32F5-49C7-A035-16116221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11505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>
            <a:defPPr algn="ctr">
              <a:defRPr sz="1500" b="1">
                <a:solidFill>
                  <a:srgbClr val="102B3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02B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2B3F"/>
                </a:solidFill>
                <a:latin typeface="Helvetica Neue"/>
                <a:ea typeface="Helvetica Neue"/>
                <a:cs typeface="Helvetica Neue"/>
              </a:rPr>
              <a:t>Δf exacto: +80 000 en 310 s · −80 000 en 370 s</a:t>
            </a:r>
          </a:p>
        </p:txBody>
      </p:sp>
    </p:spTree>
    <p:extLst>
      <p:ext uri="{BB962C8B-B14F-4D97-AF65-F5344CB8AC3E}">
        <p14:creationId xmlns:p14="http://schemas.microsoft.com/office/powerpoint/2010/main" val="10593670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CAF06D-831C-4425-9B09-D4B2DD929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137C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37C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37C8B"/>
                </a:solidFill>
                <a:latin typeface="Helvetica Neue"/>
                <a:ea typeface="Helvetica Neue"/>
                <a:cs typeface="Helvetica Neue"/>
              </a:rPr>
              <a:t>CIERRE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FEC54B-FC2B-470F-B467-7227D443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3000" b="1">
                <a:solidFill>
                  <a:srgbClr val="102B3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02B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2B3F"/>
                </a:solidFill>
                <a:latin typeface="Helvetica Neue"/>
                <a:ea typeface="Helvetica Neue"/>
                <a:cs typeface="Helvetica Neue"/>
              </a:rPr>
              <a:t>Conclusiones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E0DDEF-E5A0-47CD-9596-268C0C78C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95400"/>
            <a:ext cx="10858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085F57-CF77-4D59-9961-19316FD90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57350"/>
            <a:ext cx="533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>
            <a:defPPr>
              <a:defRPr sz="2700" b="1">
                <a:solidFill>
                  <a:srgbClr val="137C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37C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37C8B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4F0C59-C2E2-492F-B53F-6E268EAE4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657350"/>
            <a:ext cx="9667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875" b="0">
                <a:solidFill>
                  <a:srgbClr val="14212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4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12B"/>
                </a:solidFill>
                <a:latin typeface="Helvetica Neue"/>
                <a:ea typeface="Helvetica Neue"/>
                <a:cs typeface="Helvetica Neue"/>
              </a:rPr>
              <a:t>Linealidad mantiene la ventana con 2·d·w actualizaciones por rotación.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38B148-9A16-4569-8586-4D5A87A3F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67000"/>
            <a:ext cx="533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>
            <a:defPPr>
              <a:defRPr sz="2700" b="1">
                <a:solidFill>
                  <a:srgbClr val="137C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37C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37C8B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909A2E-8A0D-4FA9-9D89-0B8F897A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667000"/>
            <a:ext cx="9667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875" b="0">
                <a:solidFill>
                  <a:srgbClr val="14212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4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12B"/>
                </a:solidFill>
                <a:latin typeface="Helvetica Neue"/>
                <a:ea typeface="Helvetica Neue"/>
                <a:cs typeface="Helvetica Neue"/>
              </a:rPr>
              <a:t>Al aumentar w bajan los errores; CMS conserva sesgo positivo por colisiones.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2E6D09-8976-40E9-B2A8-A52D4F67B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676650"/>
            <a:ext cx="533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>
            <a:defPPr>
              <a:defRPr sz="2700" b="1">
                <a:solidFill>
                  <a:srgbClr val="137C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37C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37C8B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8A223C-E830-4C7E-9793-0145E05B3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676650"/>
            <a:ext cx="9667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875" b="0">
                <a:solidFill>
                  <a:srgbClr val="14212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4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12B"/>
                </a:solidFill>
                <a:latin typeface="Helvetica Neue"/>
                <a:ea typeface="Helvetica Neue"/>
                <a:cs typeface="Helvetica Neue"/>
              </a:rPr>
              <a:t>DDoS se detecta limpiamente; el scan con w=256 muestra falsos positivos.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97B782-3477-4D07-A85A-31541E5AD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686300"/>
            <a:ext cx="533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>
            <a:defPPr>
              <a:defRPr sz="2700" b="1">
                <a:solidFill>
                  <a:srgbClr val="137C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37C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37C8B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BE9D12-94BB-4540-99B7-F6B946209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686300"/>
            <a:ext cx="9667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875" b="0">
                <a:solidFill>
                  <a:srgbClr val="14212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4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12B"/>
                </a:solidFill>
                <a:latin typeface="Helvetica Neue"/>
                <a:ea typeface="Helvetica Neue"/>
                <a:cs typeface="Helvetica Neue"/>
              </a:rPr>
              <a:t>Δf muestra tanto el inicio como la salida del ataque de la ventana.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5E684F-B9BB-4060-B51E-D93AF3D2F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15000"/>
            <a:ext cx="10572750" cy="190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5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D42FE6-9E9B-4EE3-8E38-15D67DA8D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055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>
            <a:defPPr>
              <a:defRPr sz="1350" b="1">
                <a:solidFill>
                  <a:srgbClr val="137C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37C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37C8B"/>
                </a:solidFill>
                <a:latin typeface="Helvetica Neue"/>
                <a:ea typeface="Helvetica Neue"/>
                <a:cs typeface="Helvetica Neue"/>
              </a:rPr>
              <a:t>Preguntas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977FAF-3B84-45C7-ABA6-3E443B8AD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867400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5368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3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36875"/>
                </a:solidFill>
                <a:latin typeface="Helvetica Neue"/>
                <a:ea typeface="Helvetica Neue"/>
                <a:cs typeface="Helvetica Neue"/>
              </a:rPr>
              <a:t>¿Cómo cambiaría la detección con un umbral distinto o con un ataque de baja tasa?</a:t>
            </a:r>
          </a:p>
        </p:txBody>
      </p:sp>
    </p:spTree>
    <p:extLst>
      <p:ext uri="{BB962C8B-B14F-4D97-AF65-F5344CB8AC3E}">
        <p14:creationId xmlns:p14="http://schemas.microsoft.com/office/powerpoint/2010/main" val="16822872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2026-10-01T07:34:35.0700000Z</dcterms:created>
  <dcterms:modified xsi:type="dcterms:W3CDTF">2026-10-01T07:34:35.0700000Z</dcterms:modified>
</coreProperties>
</file>